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712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projet CineSmart : une évolution du lab MovieApp vers une application mobile intelligente, dynamique et connectée.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plan : on part du contexte, puis l’analyse, l’architecture, la réalisation et les perspectives.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le projet n’est pas juste une interface : il ajoute backend, base de données, API et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Relier chaque MVP à une fonctionnalité réelle du projet, pour montrer que les 10 points sont couverts.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les composants : Android communique avec plusieurs API, chaque service a un rôle distinct.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démarche incrémentale et le diagramme de Gantt.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rapidement les trois diagrammes : actions utilisateur, déroulement global et structure des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deux écrans et expliquer le rôle du backend connecté à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différence avec le lab statique : les films viennent d’une source distante et la recherche est 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les favoris matérialisent la personnalisation : chaque utilisateur retrouve sa propre sélection.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Ollama comme moteur conversationnel local ou serveur, utilisé pour les recommandations.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Mettre en avant la continuité de l’expérience : l’utilisateur découvre un film puis peut trouver un cinéma.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le DevOps est adapté à un projet académique, mais que des améliorations sont prévues.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en rappelant les apports techniques et pédagogiques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4768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CineSmart • Projet développement mobile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Image 0" descr="/mnt/data/docx_extract/word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22" y="411480"/>
            <a:ext cx="2558955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9385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CineSmart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94360" y="292608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9D6FE"/>
                </a:solidFill>
              </a:rPr>
              <a:t>Application mobile intelligente de recommandation cinématographique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5257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Développement mobile • 2025–2026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56235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Réalisé par : TAOUFIK Mohamed Amine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Encadré par : Mr. BOUSMAH Mohammed</a:t>
            </a:r>
            <a:endParaRPr lang="en-US" sz="1000" dirty="0"/>
          </a:p>
        </p:txBody>
      </p:sp>
      <p:pic>
        <p:nvPicPr>
          <p:cNvPr id="8" name="Image 1" descr="/mnt/data/docx_extract/word/media/image8.png"/>
          <p:cNvPicPr>
            <a:picLocks noChangeAspect="1"/>
          </p:cNvPicPr>
          <p:nvPr/>
        </p:nvPicPr>
        <p:blipFill>
          <a:blip r:embed="rId4"/>
          <a:srcRect l="10407" r="10407"/>
          <a:stretch/>
        </p:blipFill>
        <p:spPr>
          <a:xfrm>
            <a:off x="5715000" y="822960"/>
            <a:ext cx="1691640" cy="4800600"/>
          </a:xfrm>
          <a:prstGeom prst="rect">
            <a:avLst/>
          </a:prstGeom>
        </p:spPr>
      </p:pic>
      <p:pic>
        <p:nvPicPr>
          <p:cNvPr id="9" name="Image 2" descr="/mnt/data/docx_extract/word/media/image14.png"/>
          <p:cNvPicPr>
            <a:picLocks noChangeAspect="1"/>
          </p:cNvPicPr>
          <p:nvPr/>
        </p:nvPicPr>
        <p:blipFill>
          <a:blip r:embed="rId5"/>
          <a:srcRect l="10187" r="10187"/>
          <a:stretch/>
        </p:blipFill>
        <p:spPr>
          <a:xfrm>
            <a:off x="7589520" y="868680"/>
            <a:ext cx="1691640" cy="4709160"/>
          </a:xfrm>
          <a:prstGeom prst="rect">
            <a:avLst/>
          </a:prstGeom>
        </p:spPr>
      </p:pic>
      <p:pic>
        <p:nvPicPr>
          <p:cNvPr id="10" name="Image 3" descr="/mnt/data/docx_extract/word/media/image15.png"/>
          <p:cNvPicPr>
            <a:picLocks noChangeAspect="1"/>
          </p:cNvPicPr>
          <p:nvPr/>
        </p:nvPicPr>
        <p:blipFill>
          <a:blip r:embed="rId6"/>
          <a:srcRect l="17415" r="17415"/>
          <a:stretch/>
        </p:blipFill>
        <p:spPr>
          <a:xfrm>
            <a:off x="9464040" y="822960"/>
            <a:ext cx="1691640" cy="48006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486400" y="5806440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5742432" y="594360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</a:rPr>
              <a:t>Authentification • Films • Favoris • Chatbot Ollama • Google Maps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4CC2"/>
                </a:solidFill>
              </a:rPr>
              <a:t>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</a:rPr>
              <a:t>Objectif de la présentation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05840" cy="0"/>
          </a:xfrm>
          <a:prstGeom prst="line">
            <a:avLst/>
          </a:prstGeom>
          <a:noFill/>
          <a:ln w="38100">
            <a:solidFill>
              <a:srgbClr val="6D4CC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5486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</a:rPr>
              <a:t>Transformer un lab MovieApp statique en une application mobile complète, connectée et intelligente.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E1B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615184"/>
            <a:ext cx="2779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Contexte &amp; problématique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251460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6D4CC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2615184"/>
            <a:ext cx="2779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Analyse et conception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47472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E1B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575304"/>
            <a:ext cx="2779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Architecture technique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347472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6D4CC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3575304"/>
            <a:ext cx="2779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Fonctionnalités réalisées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4348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E1B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535424"/>
            <a:ext cx="2779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DevOps &amp; perspectives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15087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2672" y="1645920"/>
            <a:ext cx="11338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4CC2"/>
                </a:solidFill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26096" y="207568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MVP validés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15087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08592" y="1645920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9F6E"/>
                </a:solidFill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72016" y="20756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Fonctionnalités clés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0" y="27432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62672" y="2880360"/>
            <a:ext cx="11338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626096" y="331012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Services intégrés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0" y="2743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08592" y="2880360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</a:rPr>
              <a:t>MongoDB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72016" y="331012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Base de données</a:t>
            </a:r>
            <a:endParaRPr lang="en-US" sz="1000" dirty="0"/>
          </a:p>
        </p:txBody>
      </p:sp>
      <p:pic>
        <p:nvPicPr>
          <p:cNvPr id="28" name="Image 0" descr="/mnt/data/docx_extract/word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907" y="4572000"/>
            <a:ext cx="3070746" cy="822960"/>
          </a:xfrm>
          <a:prstGeom prst="rect">
            <a:avLst/>
          </a:prstGeom>
        </p:spPr>
      </p:pic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4CC2"/>
                </a:solidFill>
              </a:rPr>
              <a:t>CONTEXTE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</a:rPr>
              <a:t>Du lab statique vers une application réelle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05840" cy="0"/>
          </a:xfrm>
          <a:prstGeom prst="line">
            <a:avLst/>
          </a:prstGeom>
          <a:noFill/>
          <a:ln w="38100">
            <a:solidFill>
              <a:srgbClr val="6D4CC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48463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Avant : MovieApp statique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2514600"/>
            <a:ext cx="41148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Données codées en dur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Pas de compte utilisateur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Pas de base de données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Pas de services avancés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846320" cy="4297680"/>
          </a:xfrm>
          <a:prstGeom prst="roundRect">
            <a:avLst>
              <a:gd name="adj" fmla="val 1702"/>
            </a:avLst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4CC2"/>
                </a:solidFill>
              </a:rPr>
              <a:t>Après : CineSmart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48272" y="2487168"/>
            <a:ext cx="4114800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Backend personnel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MongoDB pour comptes et favoris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TMDb pour films et recherche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Ollama pour recommandations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Google Maps / Places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4CC2"/>
                </a:solidFill>
              </a:rPr>
              <a:t>PÉRIMÈTRE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</a:rPr>
              <a:t>Couverture des 5 MVP demandés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05840" cy="0"/>
          </a:xfrm>
          <a:prstGeom prst="line">
            <a:avLst/>
          </a:prstGeom>
          <a:noFill/>
          <a:ln w="38100">
            <a:solidFill>
              <a:srgbClr val="6D4CC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5F0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47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4CC2"/>
                </a:solidFill>
              </a:rPr>
              <a:t>MVP1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</a:rPr>
              <a:t>Dynamic App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0392" y="25146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Affichage de films depuis TMDb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847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4CC2"/>
                </a:solidFill>
              </a:rPr>
              <a:t>MVP2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53712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</a:rPr>
              <a:t>Own Backend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53712" y="25146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Auth + favoris via backend / MongoDB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6916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5F0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1847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4CC2"/>
                </a:solidFill>
              </a:rPr>
              <a:t>MVP3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57032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</a:rPr>
              <a:t>Advanced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57032" y="25146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Google Maps et Places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5661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7216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4CC2"/>
                </a:solidFill>
              </a:rPr>
              <a:t>MVP4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0392" y="3977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</a:rPr>
              <a:t>AI Model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0392" y="43891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Chatbot de recommandation avec Ollama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35661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5F0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7216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4CC2"/>
                </a:solidFill>
              </a:rPr>
              <a:t>MVP5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53712" y="3977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</a:rPr>
              <a:t>Avatar / interaction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53712" y="43891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Assistant conversationnel temps réel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4CC2"/>
                </a:solidFill>
              </a:rPr>
              <a:t>TECHNIQUE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</a:rPr>
              <a:t>Architecture générale de CineSmart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05840" cy="0"/>
          </a:xfrm>
          <a:prstGeom prst="line">
            <a:avLst/>
          </a:prstGeom>
          <a:noFill/>
          <a:ln w="38100">
            <a:solidFill>
              <a:srgbClr val="6D4CC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/mnt/data/docx_extract/word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3762"/>
            <a:ext cx="5943600" cy="34962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8660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B4B"/>
                </a:solidFill>
              </a:rPr>
              <a:t>Logique client-services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178040" y="2148840"/>
            <a:ext cx="420624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Application Android comme point d’entrée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Backend Node.js / Express pour les données utilisateur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MongoDB pour la persistance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Services externes : TMDb, Ollama, Google Places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132320" y="489204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1E1B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0" y="508406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Objectif : découpler les responsabilités et faciliter l’évolution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4CC2"/>
                </a:solidFill>
              </a:rPr>
              <a:t>DÉMARCHE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</a:rPr>
              <a:t>Méthodologie de travail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05840" cy="0"/>
          </a:xfrm>
          <a:prstGeom prst="line">
            <a:avLst/>
          </a:prstGeom>
          <a:noFill/>
          <a:ln w="38100">
            <a:solidFill>
              <a:srgbClr val="6D4CC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88720" y="2212848"/>
            <a:ext cx="160020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429000" y="2212848"/>
            <a:ext cx="160020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669280" y="2212848"/>
            <a:ext cx="160020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909560" y="2212848"/>
            <a:ext cx="160020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149840" y="2212848"/>
            <a:ext cx="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6D4CC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57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</a:rPr>
              <a:t>Analyse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15087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</a:rPr>
              <a:t>besoins, règles de gestion et périmètre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8960" y="1920240"/>
            <a:ext cx="594360" cy="594360"/>
          </a:xfrm>
          <a:prstGeom prst="ellipse">
            <a:avLst/>
          </a:prstGeom>
          <a:solidFill>
            <a:srgbClr val="6D4CC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057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80360" y="27889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</a:rPr>
              <a:t>Conception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3154680"/>
            <a:ext cx="15087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</a:rPr>
              <a:t>UML, architecture et choix techniques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49240" y="1920240"/>
            <a:ext cx="594360" cy="594360"/>
          </a:xfrm>
          <a:prstGeom prst="ellipse">
            <a:avLst/>
          </a:prstGeom>
          <a:solidFill>
            <a:srgbClr val="6D4CC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057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27889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</a:rPr>
              <a:t>Backend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154680"/>
            <a:ext cx="15087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</a:rPr>
              <a:t>authentification, favoris et persistance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589520" y="1920240"/>
            <a:ext cx="594360" cy="594360"/>
          </a:xfrm>
          <a:prstGeom prst="ellipse">
            <a:avLst/>
          </a:prstGeom>
          <a:solidFill>
            <a:srgbClr val="6D4CC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2057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60920" y="27889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</a:rPr>
              <a:t>Mobile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3154680"/>
            <a:ext cx="15087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</a:rPr>
              <a:t>écrans, adapters et appels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829800" y="1920240"/>
            <a:ext cx="594360" cy="594360"/>
          </a:xfrm>
          <a:prstGeom prst="ellipse">
            <a:avLst/>
          </a:prstGeom>
          <a:solidFill>
            <a:srgbClr val="6D4CC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12680" y="20574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0" y="27889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</a:rPr>
              <a:t>Tests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18320" y="3154680"/>
            <a:ext cx="15087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</a:rPr>
              <a:t>validation par MVP et correction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0120" y="4297680"/>
            <a:ext cx="10241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1" name="Image 0" descr="/mnt/data/docx_extract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20" y="4343400"/>
            <a:ext cx="3307080" cy="1417320"/>
          </a:xfrm>
          <a:prstGeom prst="rect">
            <a:avLst/>
          </a:prstGeom>
        </p:spPr>
      </p:pic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4CC2"/>
                </a:solidFill>
              </a:rPr>
              <a:t>CONCEPTION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</a:rPr>
              <a:t>Analyse et conception UML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05840" cy="0"/>
          </a:xfrm>
          <a:prstGeom prst="line">
            <a:avLst/>
          </a:prstGeom>
          <a:noFill/>
          <a:ln w="38100">
            <a:solidFill>
              <a:srgbClr val="6D4CC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3703320" cy="46177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89120" y="137160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0" y="1371600"/>
            <a:ext cx="3611880" cy="46177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234440" y="6108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</a:rPr>
              <a:t>Cas d’utilisation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029200" y="6108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</a:rPr>
              <a:t>Activité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686800" y="6108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</a:rPr>
              <a:t>Classes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10B10E7-9D15-8191-2E10-A884810C8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88" y="1882217"/>
            <a:ext cx="3529104" cy="359648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79B8404-A8A1-6C57-958C-7E0BDF234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162" y="1628307"/>
            <a:ext cx="2942355" cy="4104303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8F23D74-7116-C8D3-DA9F-3255B2547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312" y="2052736"/>
            <a:ext cx="3487047" cy="30791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4CC2"/>
                </a:solidFill>
              </a:rPr>
              <a:t>MISE EN ŒUVRE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</a:rPr>
              <a:t>Authentification et création de compte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05840" cy="0"/>
          </a:xfrm>
          <a:prstGeom prst="line">
            <a:avLst/>
          </a:prstGeom>
          <a:noFill/>
          <a:ln w="38100">
            <a:solidFill>
              <a:srgbClr val="6D4CC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13816" y="1271016"/>
            <a:ext cx="1984248" cy="4498848"/>
          </a:xfrm>
          <a:prstGeom prst="roundRect">
            <a:avLst>
              <a:gd name="adj" fmla="val 5991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6" name="Image 0" descr="/mnt/data/docx_extract/word/media/image6.png"/>
          <p:cNvPicPr>
            <a:picLocks noChangeAspect="1"/>
          </p:cNvPicPr>
          <p:nvPr/>
        </p:nvPicPr>
        <p:blipFill>
          <a:blip r:embed="rId3"/>
          <a:srcRect l="1816" r="1816"/>
          <a:stretch/>
        </p:blipFill>
        <p:spPr>
          <a:xfrm>
            <a:off x="868680" y="1325880"/>
            <a:ext cx="187452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8338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4B"/>
                </a:solidFill>
              </a:rPr>
              <a:t>Connexion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08376" y="1271016"/>
            <a:ext cx="1984248" cy="4498848"/>
          </a:xfrm>
          <a:prstGeom prst="roundRect">
            <a:avLst>
              <a:gd name="adj" fmla="val 5991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9" name="Image 1" descr="/mnt/data/docx_extract/word/media/image7.png"/>
          <p:cNvPicPr>
            <a:picLocks noChangeAspect="1"/>
          </p:cNvPicPr>
          <p:nvPr/>
        </p:nvPicPr>
        <p:blipFill>
          <a:blip r:embed="rId4"/>
          <a:srcRect l="2120" r="2120"/>
          <a:stretch/>
        </p:blipFill>
        <p:spPr>
          <a:xfrm>
            <a:off x="3063240" y="1325880"/>
            <a:ext cx="1874520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17520" y="58338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4B"/>
                </a:solidFill>
              </a:rPr>
              <a:t>Inscription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66928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B4B"/>
                </a:solidFill>
              </a:rPr>
              <a:t>Backend + MongoDB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715000" y="2240280"/>
            <a:ext cx="4937760" cy="2103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Création d’un compte avec email et mot de passe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Connexion via API REST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Stockage des comptes dans MongoDB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Préparation des fonctionnalités personnalisées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715000" y="4956048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6D4CC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80760" y="51572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Apport MVP2 : backend propre à l’application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4CC2"/>
                </a:solidFill>
              </a:rPr>
              <a:t>MISE EN ŒUVRE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</a:rPr>
              <a:t>Catalogue, recherche et détails des films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05840" cy="0"/>
          </a:xfrm>
          <a:prstGeom prst="line">
            <a:avLst/>
          </a:prstGeom>
          <a:noFill/>
          <a:ln w="38100">
            <a:solidFill>
              <a:srgbClr val="6D4CC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76656" y="1243584"/>
            <a:ext cx="1801368" cy="4453128"/>
          </a:xfrm>
          <a:prstGeom prst="roundRect">
            <a:avLst>
              <a:gd name="adj" fmla="val 6599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6" name="Image 0" descr="/mnt/data/docx_extract/word/media/image8.png"/>
          <p:cNvPicPr>
            <a:picLocks noChangeAspect="1"/>
          </p:cNvPicPr>
          <p:nvPr/>
        </p:nvPicPr>
        <p:blipFill>
          <a:blip r:embed="rId3"/>
          <a:srcRect l="6240" r="6240"/>
          <a:stretch/>
        </p:blipFill>
        <p:spPr>
          <a:xfrm>
            <a:off x="731520" y="1298448"/>
            <a:ext cx="169164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7607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4B"/>
                </a:solidFill>
              </a:rPr>
              <a:t>Liste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88336" y="1243584"/>
            <a:ext cx="1801368" cy="4453128"/>
          </a:xfrm>
          <a:prstGeom prst="roundRect">
            <a:avLst>
              <a:gd name="adj" fmla="val 6599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9" name="Image 1" descr="/mnt/data/docx_extract/word/media/image11.png"/>
          <p:cNvPicPr>
            <a:picLocks noChangeAspect="1"/>
          </p:cNvPicPr>
          <p:nvPr/>
        </p:nvPicPr>
        <p:blipFill>
          <a:blip r:embed="rId4"/>
          <a:srcRect l="6614" r="6614"/>
          <a:stretch/>
        </p:blipFill>
        <p:spPr>
          <a:xfrm>
            <a:off x="2743200" y="1298448"/>
            <a:ext cx="1691640" cy="4343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57607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4B"/>
                </a:solidFill>
              </a:rPr>
              <a:t>Recherche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00016" y="1243584"/>
            <a:ext cx="1801368" cy="4453128"/>
          </a:xfrm>
          <a:prstGeom prst="roundRect">
            <a:avLst>
              <a:gd name="adj" fmla="val 6599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2" name="Image 2" descr="/mnt/data/docx_extract/word/media/image12.png"/>
          <p:cNvPicPr>
            <a:picLocks noChangeAspect="1"/>
          </p:cNvPicPr>
          <p:nvPr/>
        </p:nvPicPr>
        <p:blipFill>
          <a:blip r:embed="rId5"/>
          <a:srcRect l="6184" r="6184"/>
          <a:stretch/>
        </p:blipFill>
        <p:spPr>
          <a:xfrm>
            <a:off x="4754880" y="1298448"/>
            <a:ext cx="1691640" cy="4343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160" y="57607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4B"/>
                </a:solidFill>
              </a:rPr>
              <a:t>Détails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6995160" y="15087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B4B"/>
                </a:solidFill>
              </a:rPr>
              <a:t>Fonctionnement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7059168" y="2148840"/>
            <a:ext cx="434340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Récupération dynamique via TMDb API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Recherche par mot-clé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Affichage du résumé, note et affiche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Adaptation des données avec MovieAdapter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040880" y="480060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360920" y="50292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</a:rPr>
              <a:t>Apport MVP1 : application dynamique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4CC2"/>
                </a:solidFill>
              </a:rPr>
              <a:t>MISE EN ŒUVRE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</a:rPr>
              <a:t>Gestion des favoris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05840" cy="0"/>
          </a:xfrm>
          <a:prstGeom prst="line">
            <a:avLst/>
          </a:prstGeom>
          <a:noFill/>
          <a:ln w="38100">
            <a:solidFill>
              <a:srgbClr val="6D4CC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13816" y="1225296"/>
            <a:ext cx="2029968" cy="4681728"/>
          </a:xfrm>
          <a:prstGeom prst="roundRect">
            <a:avLst>
              <a:gd name="adj" fmla="val 5856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6" name="Image 0" descr="/mnt/data/docx_extract/word/media/image13.png"/>
          <p:cNvPicPr>
            <a:picLocks noChangeAspect="1"/>
          </p:cNvPicPr>
          <p:nvPr/>
        </p:nvPicPr>
        <p:blipFill>
          <a:blip r:embed="rId3"/>
          <a:srcRect l="2750" r="2750"/>
          <a:stretch/>
        </p:blipFill>
        <p:spPr>
          <a:xfrm>
            <a:off x="868680" y="1280160"/>
            <a:ext cx="192024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971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4B"/>
                </a:solidFill>
              </a:rPr>
              <a:t>Mes favoris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54096" y="1225296"/>
            <a:ext cx="2029968" cy="4681728"/>
          </a:xfrm>
          <a:prstGeom prst="roundRect">
            <a:avLst>
              <a:gd name="adj" fmla="val 5856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9" name="Image 1" descr="/mnt/data/docx_extract/word/media/image12.png"/>
          <p:cNvPicPr>
            <a:picLocks noChangeAspect="1"/>
          </p:cNvPicPr>
          <p:nvPr/>
        </p:nvPicPr>
        <p:blipFill>
          <a:blip r:embed="rId4"/>
          <a:srcRect l="2750" r="2750"/>
          <a:stretch/>
        </p:blipFill>
        <p:spPr>
          <a:xfrm>
            <a:off x="3108960" y="1280160"/>
            <a:ext cx="1920240" cy="4572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63240" y="5971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4B"/>
                </a:solidFill>
              </a:rPr>
              <a:t>Ajouter / retirer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669280" y="1572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B4B"/>
                </a:solidFill>
              </a:rPr>
              <a:t>Personnalisation utilisateur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715000" y="2240280"/>
            <a:ext cx="512064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Un film peut être enregistré dans une liste personnelle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Les favoris sont associés à l’utilisateur connecté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La liste est récupérée et affichée dans FavoritesActivity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Cette fonctionnalité renforce la valeur d’usage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4CC2"/>
                </a:solidFill>
              </a:rPr>
              <a:t>INTELLIGENCE ARTIFICIELLE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</a:rPr>
              <a:t>Chatbot de recommandation avec Ollama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05840" cy="0"/>
          </a:xfrm>
          <a:prstGeom prst="line">
            <a:avLst/>
          </a:prstGeom>
          <a:noFill/>
          <a:ln w="38100">
            <a:solidFill>
              <a:srgbClr val="6D4CC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13816" y="1133856"/>
            <a:ext cx="2258568" cy="4910328"/>
          </a:xfrm>
          <a:prstGeom prst="roundRect">
            <a:avLst>
              <a:gd name="adj" fmla="val 5263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6" name="Image 0" descr="/mnt/data/docx_extract/word/media/image14.png"/>
          <p:cNvPicPr>
            <a:picLocks noChangeAspect="1"/>
          </p:cNvPicPr>
          <p:nvPr/>
        </p:nvPicPr>
        <p:blipFill>
          <a:blip r:embed="rId3"/>
          <a:srcRect l="390" r="390"/>
          <a:stretch/>
        </p:blipFill>
        <p:spPr>
          <a:xfrm>
            <a:off x="868680" y="1188720"/>
            <a:ext cx="214884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61081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4B"/>
                </a:solidFill>
              </a:rPr>
              <a:t>Chatbot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703320" y="1508760"/>
            <a:ext cx="72694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77640" y="17830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B4B"/>
                </a:solidFill>
              </a:rPr>
              <a:t>Principe d’interaction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069080" y="2423160"/>
            <a:ext cx="621792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L’utilisateur pose une question en langage naturel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La question est envoyée au service connecté à Ollama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Le LLM génère une recommandation de film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ChatAdapter affiche la conversation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703320" y="4709160"/>
            <a:ext cx="7269480" cy="685800"/>
          </a:xfrm>
          <a:prstGeom prst="roundRect">
            <a:avLst>
              <a:gd name="adj" fmla="val 10667"/>
            </a:avLst>
          </a:prstGeom>
          <a:solidFill>
            <a:srgbClr val="1E1B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0" y="4956048"/>
            <a:ext cx="6629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Apport MVP4 : intégration d’un modèle IA dans une application mobile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4CC2"/>
                </a:solidFill>
              </a:rPr>
              <a:t>FONCTION AVANCÉE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</a:rPr>
              <a:t>Localisation des cinémas avec Google Maps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05840" cy="0"/>
          </a:xfrm>
          <a:prstGeom prst="line">
            <a:avLst/>
          </a:prstGeom>
          <a:noFill/>
          <a:ln w="38100">
            <a:solidFill>
              <a:srgbClr val="6D4CC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13816" y="1115568"/>
            <a:ext cx="2167128" cy="5001768"/>
          </a:xfrm>
          <a:prstGeom prst="roundRect">
            <a:avLst>
              <a:gd name="adj" fmla="val 5485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6" name="Image 0" descr="/mnt/data/docx_extract/word/media/image15.png"/>
          <p:cNvPicPr>
            <a:picLocks noChangeAspect="1"/>
          </p:cNvPicPr>
          <p:nvPr/>
        </p:nvPicPr>
        <p:blipFill>
          <a:blip r:embed="rId3"/>
          <a:srcRect l="11110" r="11110"/>
          <a:stretch/>
        </p:blipFill>
        <p:spPr>
          <a:xfrm>
            <a:off x="868680" y="1170432"/>
            <a:ext cx="2057400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61813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B4B"/>
                </a:solidFill>
              </a:rPr>
              <a:t>Cinémas proches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9476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B4B"/>
                </a:solidFill>
              </a:rPr>
              <a:t>Google Places / Maps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840480" y="2240280"/>
            <a:ext cx="585216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Recherche des cinémas proches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Affichage sur carte interactive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Utilisation des modèles PlaceResult, PlaceGeometry et PlaceLocation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Amélioration de l’expérience utilisateur après le choix du film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40480" y="4892040"/>
            <a:ext cx="5760720" cy="59436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60520" y="5102352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</a:rPr>
              <a:t>Apport MVP3 : intégration d’une fonctionnalité avancée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4CC2"/>
                </a:solidFill>
              </a:rPr>
              <a:t>QUALITÉ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1B4B"/>
                </a:solidFill>
              </a:rPr>
              <a:t>DevOps léger et validation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1005840" cy="0"/>
          </a:xfrm>
          <a:prstGeom prst="line">
            <a:avLst/>
          </a:prstGeom>
          <a:noFill/>
          <a:ln w="38100">
            <a:solidFill>
              <a:srgbClr val="6D4CC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810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4CC2"/>
                </a:solidFill>
              </a:rPr>
              <a:t>Git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17627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versionnement et traçabilité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64592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1810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4CC2"/>
                </a:solidFill>
              </a:rPr>
              <a:t>Postman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90872" y="217627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test des endpoints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64592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8105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4CC2"/>
                </a:solidFill>
              </a:rPr>
              <a:t>JSON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94192" y="217627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contrôle des réponses réseau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10896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2735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4CC2"/>
                </a:solidFill>
              </a:rPr>
              <a:t>Tests manuels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87552" y="363931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validation de chaque écran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310896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32735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4CC2"/>
                </a:solidFill>
              </a:rPr>
              <a:t>MVP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90872" y="363931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intégration progressive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773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B4B"/>
                </a:solidFill>
              </a:rPr>
              <a:t>Perspectives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154680" y="4736592"/>
            <a:ext cx="731520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Authentification avec JWT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Cache local pour améliorer les performances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CI/CD et déploiement cloud du backend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Avatar vocal temps réel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ocx_extract/word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64" y="457200"/>
            <a:ext cx="2729552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417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731520" y="2240280"/>
            <a:ext cx="4937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DE9FE"/>
                </a:solidFill>
              </a:rPr>
              <a:t>CineSmart montre comment un lab MovieApp statique peut devenir une application mobile intelligente, connectée et évolutive.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77240" y="388620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6D4CC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" y="3986784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 + MongoDB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520440" y="388620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6D4CC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93592" y="3986784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Films &amp; recherche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77240" y="466344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6D4CC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4764024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Favoris personnalisés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20440" y="466344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6D4CC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93592" y="4764024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Chatbot Ollama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544068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6D4CC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" y="5541264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Maps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28816" y="1024128"/>
            <a:ext cx="1527048" cy="4041648"/>
          </a:xfrm>
          <a:prstGeom prst="roundRect">
            <a:avLst>
              <a:gd name="adj" fmla="val 7784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6" name="Image 1" descr="/mnt/data/docx_extract/word/media/image8.png"/>
          <p:cNvPicPr>
            <a:picLocks noChangeAspect="1"/>
          </p:cNvPicPr>
          <p:nvPr/>
        </p:nvPicPr>
        <p:blipFill>
          <a:blip r:embed="rId4"/>
          <a:srcRect l="9499" r="9499"/>
          <a:stretch/>
        </p:blipFill>
        <p:spPr>
          <a:xfrm>
            <a:off x="6583680" y="1078992"/>
            <a:ext cx="1417320" cy="39319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129016" y="1024128"/>
            <a:ext cx="1527048" cy="4041648"/>
          </a:xfrm>
          <a:prstGeom prst="roundRect">
            <a:avLst>
              <a:gd name="adj" fmla="val 7784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8" name="Image 2" descr="/mnt/data/docx_extract/word/media/image14.png"/>
          <p:cNvPicPr>
            <a:picLocks noChangeAspect="1"/>
          </p:cNvPicPr>
          <p:nvPr/>
        </p:nvPicPr>
        <p:blipFill>
          <a:blip r:embed="rId5"/>
          <a:srcRect l="10049" r="10049"/>
          <a:stretch/>
        </p:blipFill>
        <p:spPr>
          <a:xfrm>
            <a:off x="8183880" y="1078992"/>
            <a:ext cx="1417320" cy="39319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729216" y="1024128"/>
            <a:ext cx="1527048" cy="4041648"/>
          </a:xfrm>
          <a:prstGeom prst="roundRect">
            <a:avLst>
              <a:gd name="adj" fmla="val 7784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20" name="Image 3" descr="/mnt/data/docx_extract/word/media/image15.png"/>
          <p:cNvPicPr>
            <a:picLocks noChangeAspect="1"/>
          </p:cNvPicPr>
          <p:nvPr/>
        </p:nvPicPr>
        <p:blipFill>
          <a:blip r:embed="rId6"/>
          <a:srcRect l="16667" r="16667"/>
          <a:stretch/>
        </p:blipFill>
        <p:spPr>
          <a:xfrm>
            <a:off x="9784080" y="1078992"/>
            <a:ext cx="1417320" cy="3931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46520" y="56235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Merci pour votre attention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837</Words>
  <Application>Microsoft Office PowerPoint</Application>
  <PresentationFormat>Grand écran</PresentationFormat>
  <Paragraphs>197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Aptos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EMSI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CineSmart - Application mobile intelligente</dc:title>
  <dc:subject>Présentation projet CineSmart</dc:subject>
  <dc:creator>OpenAI</dc:creator>
  <cp:lastModifiedBy>iam tissalate</cp:lastModifiedBy>
  <cp:revision>3</cp:revision>
  <dcterms:created xsi:type="dcterms:W3CDTF">2026-05-20T20:28:00Z</dcterms:created>
  <dcterms:modified xsi:type="dcterms:W3CDTF">2026-05-20T20:50:59Z</dcterms:modified>
</cp:coreProperties>
</file>